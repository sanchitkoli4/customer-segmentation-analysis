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0" y="1417320"/>
            <a:ext cx="2331720" cy="365760"/>
          </a:xfrm>
          <a:prstGeom prst="roundRect">
            <a:avLst>
              <a:gd name="adj" fmla="val 15000"/>
            </a:avLst>
          </a:prstGeom>
          <a:solidFill>
            <a:srgbClr val="E8871E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417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ANALYTICS  |  STRATEGIC INSIGHTS ENGAGEMENT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77240" y="2057400"/>
            <a:ext cx="96012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Segmentation &amp;</a:t>
            </a:r>
            <a:endParaRPr lang="en-US" sz="4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Retail Growth Strategy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822960" y="3794760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Executive Consulting Presentation on Data-Driven Customer Intelligence, K-Means Segmentation, and Targeted Marketing Strategy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22960" y="4709160"/>
            <a:ext cx="4937760" cy="0"/>
          </a:xfrm>
          <a:prstGeom prst="line">
            <a:avLst/>
          </a:prstGeom>
          <a:noFill/>
          <a:ln w="19050">
            <a:solidFill>
              <a:srgbClr val="E8871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4983480"/>
            <a:ext cx="73152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
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Leadership &amp; Marketing Strategy Committee
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
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Sanchit Sunil Koli
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9D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Analytics Intern  |  Business Intelligence &amp; Customer Analytics
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9D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274320"/>
          </a:xfrm>
          <a:prstGeom prst="roundRect">
            <a:avLst>
              <a:gd name="adj" fmla="val 20000"/>
            </a:avLst>
          </a:prstGeom>
          <a:solidFill>
            <a:srgbClr val="E8871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5669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365760"/>
            <a:ext cx="9144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120" kern="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Cover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1600200"/>
            <a:ext cx="5120640" cy="731520"/>
          </a:xfrm>
          <a:prstGeom prst="roundRect">
            <a:avLst>
              <a:gd name="adj" fmla="val 8750"/>
            </a:avLst>
          </a:prstGeom>
          <a:solidFill>
            <a:srgbClr val="F4F6F9"/>
          </a:solidFill>
          <a:ln/>
        </p:spPr>
      </p:sp>
      <p:sp>
        <p:nvSpPr>
          <p:cNvPr id="7" name="Text 5"/>
          <p:cNvSpPr/>
          <p:nvPr/>
        </p:nvSpPr>
        <p:spPr>
          <a:xfrm>
            <a:off x="621792" y="1600200"/>
            <a:ext cx="640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87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325880" y="1600200"/>
            <a:ext cx="4114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 Overview &amp; Objectives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496312"/>
            <a:ext cx="5120640" cy="731520"/>
          </a:xfrm>
          <a:prstGeom prst="roundRect">
            <a:avLst>
              <a:gd name="adj" fmla="val 8750"/>
            </a:avLst>
          </a:prstGeom>
          <a:solidFill>
            <a:srgbClr val="F4F6F9"/>
          </a:solidFill>
          <a:ln/>
        </p:spPr>
      </p:sp>
      <p:sp>
        <p:nvSpPr>
          <p:cNvPr id="10" name="Text 8"/>
          <p:cNvSpPr/>
          <p:nvPr/>
        </p:nvSpPr>
        <p:spPr>
          <a:xfrm>
            <a:off x="621792" y="2496312"/>
            <a:ext cx="640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87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325880" y="2496312"/>
            <a:ext cx="4114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 &amp; Methodology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3392424"/>
            <a:ext cx="5120640" cy="731520"/>
          </a:xfrm>
          <a:prstGeom prst="roundRect">
            <a:avLst>
              <a:gd name="adj" fmla="val 8750"/>
            </a:avLst>
          </a:prstGeom>
          <a:solidFill>
            <a:srgbClr val="F4F6F9"/>
          </a:solidFill>
          <a:ln/>
        </p:spPr>
      </p:sp>
      <p:sp>
        <p:nvSpPr>
          <p:cNvPr id="13" name="Text 11"/>
          <p:cNvSpPr/>
          <p:nvPr/>
        </p:nvSpPr>
        <p:spPr>
          <a:xfrm>
            <a:off x="621792" y="3392424"/>
            <a:ext cx="640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87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325880" y="3392424"/>
            <a:ext cx="4114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Performance Snapshot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4288536"/>
            <a:ext cx="5120640" cy="731520"/>
          </a:xfrm>
          <a:prstGeom prst="roundRect">
            <a:avLst>
              <a:gd name="adj" fmla="val 8750"/>
            </a:avLst>
          </a:prstGeom>
          <a:solidFill>
            <a:srgbClr val="F4F6F9"/>
          </a:solidFill>
          <a:ln/>
        </p:spPr>
      </p:sp>
      <p:sp>
        <p:nvSpPr>
          <p:cNvPr id="16" name="Text 14"/>
          <p:cNvSpPr/>
          <p:nvPr/>
        </p:nvSpPr>
        <p:spPr>
          <a:xfrm>
            <a:off x="621792" y="4288536"/>
            <a:ext cx="640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87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325880" y="4288536"/>
            <a:ext cx="4114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&amp; Discount Strategy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035040" y="1600200"/>
            <a:ext cx="5120640" cy="731520"/>
          </a:xfrm>
          <a:prstGeom prst="roundRect">
            <a:avLst>
              <a:gd name="adj" fmla="val 8750"/>
            </a:avLst>
          </a:prstGeom>
          <a:solidFill>
            <a:srgbClr val="F4F6F9"/>
          </a:solidFill>
          <a:ln/>
        </p:spPr>
      </p:sp>
      <p:sp>
        <p:nvSpPr>
          <p:cNvPr id="19" name="Text 17"/>
          <p:cNvSpPr/>
          <p:nvPr/>
        </p:nvSpPr>
        <p:spPr>
          <a:xfrm>
            <a:off x="6199632" y="1600200"/>
            <a:ext cx="640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87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903720" y="1600200"/>
            <a:ext cx="4114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Behavior Drivers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035040" y="2496312"/>
            <a:ext cx="5120640" cy="731520"/>
          </a:xfrm>
          <a:prstGeom prst="roundRect">
            <a:avLst>
              <a:gd name="adj" fmla="val 8750"/>
            </a:avLst>
          </a:prstGeom>
          <a:solidFill>
            <a:srgbClr val="F4F6F9"/>
          </a:solidFill>
          <a:ln/>
        </p:spPr>
      </p:sp>
      <p:sp>
        <p:nvSpPr>
          <p:cNvPr id="22" name="Text 20"/>
          <p:cNvSpPr/>
          <p:nvPr/>
        </p:nvSpPr>
        <p:spPr>
          <a:xfrm>
            <a:off x="6199632" y="2496312"/>
            <a:ext cx="640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87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6903720" y="2496312"/>
            <a:ext cx="4114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Customer Segmentation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035040" y="3392424"/>
            <a:ext cx="5120640" cy="731520"/>
          </a:xfrm>
          <a:prstGeom prst="roundRect">
            <a:avLst>
              <a:gd name="adj" fmla="val 8750"/>
            </a:avLst>
          </a:prstGeom>
          <a:solidFill>
            <a:srgbClr val="F4F6F9"/>
          </a:solidFill>
          <a:ln/>
        </p:spPr>
      </p:sp>
      <p:sp>
        <p:nvSpPr>
          <p:cNvPr id="25" name="Text 23"/>
          <p:cNvSpPr/>
          <p:nvPr/>
        </p:nvSpPr>
        <p:spPr>
          <a:xfrm>
            <a:off x="6199632" y="3392424"/>
            <a:ext cx="640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87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6903720" y="3392424"/>
            <a:ext cx="4114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Intelligence Dashboards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6035040" y="4288536"/>
            <a:ext cx="5120640" cy="731520"/>
          </a:xfrm>
          <a:prstGeom prst="roundRect">
            <a:avLst>
              <a:gd name="adj" fmla="val 8750"/>
            </a:avLst>
          </a:prstGeom>
          <a:solidFill>
            <a:srgbClr val="F4F6F9"/>
          </a:solidFill>
          <a:ln/>
        </p:spPr>
      </p:sp>
      <p:sp>
        <p:nvSpPr>
          <p:cNvPr id="28" name="Text 26"/>
          <p:cNvSpPr/>
          <p:nvPr/>
        </p:nvSpPr>
        <p:spPr>
          <a:xfrm>
            <a:off x="6199632" y="4288536"/>
            <a:ext cx="640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87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6903720" y="4288536"/>
            <a:ext cx="4114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Recommendations &amp; Roadmap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57200" y="651052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SEGMENTATION &amp; RETAIL GROWTH STRATEGY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8074152" y="65105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Sanchit Sunil Koli   |   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274320"/>
          </a:xfrm>
          <a:prstGeom prst="roundRect">
            <a:avLst>
              <a:gd name="adj" fmla="val 20000"/>
            </a:avLst>
          </a:prstGeom>
          <a:solidFill>
            <a:srgbClr val="E8871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5669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365760"/>
            <a:ext cx="9144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120" kern="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Precision Targeting, Not Broader Discounting, Is the Growth Lever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structured analysis of 3,900 customer transactions reveals a customer base with five distinct behavioral segments — and shows that revenue is driven primarily by customer volume, not by individual spend.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148840"/>
            <a:ext cx="2615184" cy="960120"/>
          </a:xfrm>
          <a:prstGeom prst="roundRect">
            <a:avLst>
              <a:gd name="adj" fmla="val 7619"/>
            </a:avLst>
          </a:prstGeom>
          <a:solidFill>
            <a:srgbClr val="0B2545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302459"/>
            <a:ext cx="2615184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4A3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3,900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30352" y="2744114"/>
            <a:ext cx="2468880" cy="32644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RECORDS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36976" y="2148840"/>
            <a:ext cx="2615184" cy="960120"/>
          </a:xfrm>
          <a:prstGeom prst="roundRect">
            <a:avLst>
              <a:gd name="adj" fmla="val 7619"/>
            </a:avLst>
          </a:prstGeom>
          <a:solidFill>
            <a:srgbClr val="0B2545"/>
          </a:solidFill>
          <a:ln/>
        </p:spPr>
      </p:sp>
      <p:sp>
        <p:nvSpPr>
          <p:cNvPr id="11" name="Text 9"/>
          <p:cNvSpPr/>
          <p:nvPr/>
        </p:nvSpPr>
        <p:spPr>
          <a:xfrm>
            <a:off x="3236976" y="2302459"/>
            <a:ext cx="2615184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4A3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$233,081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3310128" y="2744114"/>
            <a:ext cx="2468880" cy="32644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016752" y="2148840"/>
            <a:ext cx="2615184" cy="960120"/>
          </a:xfrm>
          <a:prstGeom prst="roundRect">
            <a:avLst>
              <a:gd name="adj" fmla="val 7619"/>
            </a:avLst>
          </a:prstGeom>
          <a:solidFill>
            <a:srgbClr val="0B2545"/>
          </a:solidFill>
          <a:ln/>
        </p:spPr>
      </p:sp>
      <p:sp>
        <p:nvSpPr>
          <p:cNvPr id="14" name="Text 12"/>
          <p:cNvSpPr/>
          <p:nvPr/>
        </p:nvSpPr>
        <p:spPr>
          <a:xfrm>
            <a:off x="6016752" y="2302459"/>
            <a:ext cx="2615184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4A3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$59.76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6089904" y="2744114"/>
            <a:ext cx="2468880" cy="32644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PURCHASE VALUE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8796528" y="2148840"/>
            <a:ext cx="2615184" cy="960120"/>
          </a:xfrm>
          <a:prstGeom prst="roundRect">
            <a:avLst>
              <a:gd name="adj" fmla="val 7619"/>
            </a:avLst>
          </a:prstGeom>
          <a:solidFill>
            <a:srgbClr val="0B2545"/>
          </a:solidFill>
          <a:ln/>
        </p:spPr>
      </p:sp>
      <p:sp>
        <p:nvSpPr>
          <p:cNvPr id="17" name="Text 15"/>
          <p:cNvSpPr/>
          <p:nvPr/>
        </p:nvSpPr>
        <p:spPr>
          <a:xfrm>
            <a:off x="8796528" y="2302459"/>
            <a:ext cx="2615184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4A3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8869680" y="2744114"/>
            <a:ext cx="2468880" cy="32644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SEGMENTS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57200" y="3429000"/>
            <a:ext cx="694944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8000"/>
              </a:lnSpc>
              <a:spcAft>
                <a:spcPts val="1400"/>
              </a:spcAft>
              <a:buSzPct val="100000"/>
              <a:buChar char="●"/>
            </a:pPr>
            <a:r>
              <a:rPr lang="en-US" sz="130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Clothing and Accessories together generate 76.6% of total revenue; Outerwear trails at just 7.95% — a targeting gap, not a pricing problem.</a:t>
            </a:r>
            <a:endParaRPr lang="en-US" sz="1300" dirty="0"/>
          </a:p>
          <a:p>
            <a:pPr marL="177800" indent="-177800">
              <a:lnSpc>
                <a:spcPct val="108000"/>
              </a:lnSpc>
              <a:spcAft>
                <a:spcPts val="1400"/>
              </a:spcAft>
              <a:buSzPct val="100000"/>
              <a:buChar char="●"/>
            </a:pPr>
            <a:r>
              <a:rPr lang="en-US" sz="130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purchase value is nearly flat across age groups and seasons ($59–$61) — revenue differences trace back to customer count, not spend per customer.</a:t>
            </a:r>
            <a:endParaRPr lang="en-US" sz="1300" dirty="0"/>
          </a:p>
          <a:p>
            <a:pPr marL="177800" indent="-177800">
              <a:lnSpc>
                <a:spcPct val="108000"/>
              </a:lnSpc>
              <a:spcAft>
                <a:spcPts val="1400"/>
              </a:spcAft>
              <a:buSzPct val="100000"/>
              <a:buChar char="●"/>
            </a:pPr>
            <a:r>
              <a:rPr lang="en-US" sz="130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Discounted vs. non-discounted transactions differ by less than $1 on average — blanket discounting is not supported by the data.</a:t>
            </a:r>
            <a:endParaRPr lang="en-US" sz="1300" dirty="0"/>
          </a:p>
          <a:p>
            <a:pPr marL="177800" indent="-177800">
              <a:lnSpc>
                <a:spcPct val="108000"/>
              </a:lnSpc>
              <a:spcAft>
                <a:spcPts val="1400"/>
              </a:spcAft>
              <a:buSzPct val="100000"/>
              <a:buChar char="●"/>
            </a:pPr>
            <a:r>
              <a:rPr lang="en-US" sz="130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clustering (k=5) identifies five behaviorally distinct segments, from High-Value Loyal Customers to Occasional Senior Customers.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635240" y="3429000"/>
            <a:ext cx="4096512" cy="2926080"/>
          </a:xfrm>
          <a:prstGeom prst="roundRect">
            <a:avLst>
              <a:gd name="adj" fmla="val 2188"/>
            </a:avLst>
          </a:prstGeom>
          <a:solidFill>
            <a:srgbClr val="F4F6F9"/>
          </a:solidFill>
          <a:ln w="15875">
            <a:solidFill>
              <a:srgbClr val="E8871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836408" y="3557016"/>
            <a:ext cx="36941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VERDICT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836408" y="3831336"/>
            <a:ext cx="3694176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business does not have a demand problem — it has a targeting problem. The highest-value opportunity is precision segmentation: retain high-value clusters, re-engage price-sensitive and occasional segments, and redirect promotional spend toward underserved categories and age groups.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7200" y="651052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SEGMENTATION &amp; RETAIL GROWTH STRATEGY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8074152" y="65105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Sanchit Sunil Koli   |   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274320"/>
          </a:xfrm>
          <a:prstGeom prst="roundRect">
            <a:avLst>
              <a:gd name="adj" fmla="val 20000"/>
            </a:avLst>
          </a:prstGeom>
          <a:solidFill>
            <a:srgbClr val="E8871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5669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365760"/>
            <a:ext cx="9144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120" kern="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CONTEXT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Engagement Objectives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Undifferentiated marketing erodes margin without reliably driving demand. This engagement builds an evidence-based view of who customers are, what drives their spending, and how investment should be allocated.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331720"/>
            <a:ext cx="2157984" cy="329184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9DEE4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1">
                <a:alpha val="2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21792" y="253288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E8871E"/>
          </a:solidFill>
          <a:ln/>
        </p:spPr>
      </p:sp>
      <p:sp>
        <p:nvSpPr>
          <p:cNvPr id="9" name="Text 7"/>
          <p:cNvSpPr/>
          <p:nvPr/>
        </p:nvSpPr>
        <p:spPr>
          <a:xfrm>
            <a:off x="621792" y="25328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21792" y="315468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the Data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21792" y="3749040"/>
            <a:ext cx="18288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 a clean, analysis-ready view of customer behavior across category, age, season, and geography.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61488" y="2331720"/>
            <a:ext cx="2157984" cy="329184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9DEE4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1">
                <a:alpha val="2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926080" y="253288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E8871E"/>
          </a:solidFill>
          <a:ln/>
        </p:spPr>
      </p:sp>
      <p:sp>
        <p:nvSpPr>
          <p:cNvPr id="14" name="Text 12"/>
          <p:cNvSpPr/>
          <p:nvPr/>
        </p:nvSpPr>
        <p:spPr>
          <a:xfrm>
            <a:off x="2926080" y="25328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926080" y="315468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Quantify Category Performance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2926080" y="3749040"/>
            <a:ext cx="18288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which product categories warrant promotional investment vs. which already perform at capacity.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065776" y="2331720"/>
            <a:ext cx="2157984" cy="329184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9DEE4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1">
                <a:alpha val="2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230368" y="253288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E8871E"/>
          </a:solidFill>
          <a:ln/>
        </p:spPr>
      </p:sp>
      <p:sp>
        <p:nvSpPr>
          <p:cNvPr id="19" name="Text 17"/>
          <p:cNvSpPr/>
          <p:nvPr/>
        </p:nvSpPr>
        <p:spPr>
          <a:xfrm>
            <a:off x="5230368" y="25328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230368" y="315468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the Customer Base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5230368" y="3749040"/>
            <a:ext cx="18288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K-Means clustering to reveal behaviorally distinct, actionable customer groups.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370064" y="2331720"/>
            <a:ext cx="2157984" cy="329184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9DEE4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1">
                <a:alpha val="2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534656" y="253288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E8871E"/>
          </a:solidFill>
          <a:ln/>
        </p:spPr>
      </p:sp>
      <p:sp>
        <p:nvSpPr>
          <p:cNvPr id="24" name="Text 22"/>
          <p:cNvSpPr/>
          <p:nvPr/>
        </p:nvSpPr>
        <p:spPr>
          <a:xfrm>
            <a:off x="7534656" y="25328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534656" y="315468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 Actions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7534656" y="3749040"/>
            <a:ext cx="18288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 findings into prioritized recommendations with quantified expected impact.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9674352" y="2331720"/>
            <a:ext cx="2157984" cy="329184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9DEE4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1">
                <a:alpha val="2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9838944" y="253288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E8871E"/>
          </a:solidFill>
          <a:ln/>
        </p:spPr>
      </p:sp>
      <p:sp>
        <p:nvSpPr>
          <p:cNvPr id="29" name="Text 27"/>
          <p:cNvSpPr/>
          <p:nvPr/>
        </p:nvSpPr>
        <p:spPr>
          <a:xfrm>
            <a:off x="9838944" y="25328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9838944" y="315468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Productize the Insight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9838944" y="3749040"/>
            <a:ext cx="18288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Power BI dashboards so findings remain live and decision-ready beyond this report.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57200" y="651052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SEGMENTATION &amp; RETAIL GROWTH STRATEGY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8074152" y="65105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Sanchit Sunil Koli   |   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274320"/>
          </a:xfrm>
          <a:prstGeom prst="roundRect">
            <a:avLst>
              <a:gd name="adj" fmla="val 20000"/>
            </a:avLst>
          </a:prstGeom>
          <a:solidFill>
            <a:srgbClr val="E8871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5669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365760"/>
            <a:ext cx="9144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120" kern="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Validated Pipeline, Start to Finish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1600200"/>
            <a:ext cx="2606040" cy="1051560"/>
          </a:xfrm>
          <a:prstGeom prst="roundRect">
            <a:avLst>
              <a:gd name="adj" fmla="val 6957"/>
            </a:avLst>
          </a:prstGeom>
          <a:solidFill>
            <a:srgbClr val="0B2545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709928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Validation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" y="219456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— filters, IQR box plots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081528" y="1920240"/>
            <a:ext cx="182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8871E"/>
                </a:solidFill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3264408" y="1600200"/>
            <a:ext cx="2606040" cy="1051560"/>
          </a:xfrm>
          <a:prstGeom prst="roundRect">
            <a:avLst>
              <a:gd name="adj" fmla="val 6957"/>
            </a:avLst>
          </a:prstGeom>
          <a:solidFill>
            <a:srgbClr val="0B2545"/>
          </a:solidFill>
          <a:ln/>
        </p:spPr>
      </p:sp>
      <p:sp>
        <p:nvSpPr>
          <p:cNvPr id="11" name="Text 9"/>
          <p:cNvSpPr/>
          <p:nvPr/>
        </p:nvSpPr>
        <p:spPr>
          <a:xfrm>
            <a:off x="3401568" y="1709928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Business-Question Analysis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401568" y="219456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SQL, Excel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888736" y="1920240"/>
            <a:ext cx="182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8871E"/>
                </a:solidFill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6071616" y="1600200"/>
            <a:ext cx="2606040" cy="1051560"/>
          </a:xfrm>
          <a:prstGeom prst="roundRect">
            <a:avLst>
              <a:gd name="adj" fmla="val 6957"/>
            </a:avLst>
          </a:prstGeom>
          <a:solidFill>
            <a:srgbClr val="0B2545"/>
          </a:solidFill>
          <a:ln/>
        </p:spPr>
      </p:sp>
      <p:sp>
        <p:nvSpPr>
          <p:cNvPr id="15" name="Text 13"/>
          <p:cNvSpPr/>
          <p:nvPr/>
        </p:nvSpPr>
        <p:spPr>
          <a:xfrm>
            <a:off x="6208776" y="1709928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Segmentation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208776" y="219456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— K-Means (scikit-learn)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8695944" y="1920240"/>
            <a:ext cx="182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8871E"/>
                </a:solidFill>
              </a:rPr>
              <a:t>→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8878824" y="1600200"/>
            <a:ext cx="2606040" cy="1051560"/>
          </a:xfrm>
          <a:prstGeom prst="roundRect">
            <a:avLst>
              <a:gd name="adj" fmla="val 6957"/>
            </a:avLst>
          </a:prstGeom>
          <a:solidFill>
            <a:srgbClr val="0B2545"/>
          </a:solidFill>
          <a:ln/>
        </p:spPr>
      </p:sp>
      <p:sp>
        <p:nvSpPr>
          <p:cNvPr id="19" name="Text 17"/>
          <p:cNvSpPr/>
          <p:nvPr/>
        </p:nvSpPr>
        <p:spPr>
          <a:xfrm>
            <a:off x="9015984" y="1709928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Productization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015984" y="219456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57200" y="29718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Six-Point Data Quality Validation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57200" y="3474720"/>
            <a:ext cx="3675888" cy="621792"/>
          </a:xfrm>
          <a:prstGeom prst="roundRect">
            <a:avLst>
              <a:gd name="adj" fmla="val 8824"/>
            </a:avLst>
          </a:prstGeom>
          <a:solidFill>
            <a:srgbClr val="F4F6F9"/>
          </a:solidFill>
          <a:ln/>
        </p:spPr>
      </p:sp>
      <p:sp>
        <p:nvSpPr>
          <p:cNvPr id="23" name="Shape 21"/>
          <p:cNvSpPr/>
          <p:nvPr/>
        </p:nvSpPr>
        <p:spPr>
          <a:xfrm>
            <a:off x="585216" y="3648456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1E7A4C"/>
          </a:solidFill>
          <a:ln/>
        </p:spPr>
      </p:sp>
      <p:sp>
        <p:nvSpPr>
          <p:cNvPr id="24" name="Text 22"/>
          <p:cNvSpPr/>
          <p:nvPr/>
        </p:nvSpPr>
        <p:spPr>
          <a:xfrm>
            <a:off x="585216" y="364845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✓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69264" y="3520440"/>
            <a:ext cx="30358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969264" y="3803904"/>
            <a:ext cx="30358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found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270248" y="3474720"/>
            <a:ext cx="3675888" cy="621792"/>
          </a:xfrm>
          <a:prstGeom prst="roundRect">
            <a:avLst>
              <a:gd name="adj" fmla="val 8824"/>
            </a:avLst>
          </a:prstGeom>
          <a:solidFill>
            <a:srgbClr val="F4F6F9"/>
          </a:solidFill>
          <a:ln/>
        </p:spPr>
      </p:sp>
      <p:sp>
        <p:nvSpPr>
          <p:cNvPr id="28" name="Shape 26"/>
          <p:cNvSpPr/>
          <p:nvPr/>
        </p:nvSpPr>
        <p:spPr>
          <a:xfrm>
            <a:off x="4398264" y="3648456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1E7A4C"/>
          </a:solidFill>
          <a:ln/>
        </p:spPr>
      </p:sp>
      <p:sp>
        <p:nvSpPr>
          <p:cNvPr id="29" name="Text 27"/>
          <p:cNvSpPr/>
          <p:nvPr/>
        </p:nvSpPr>
        <p:spPr>
          <a:xfrm>
            <a:off x="4398264" y="364845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✓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782312" y="3520440"/>
            <a:ext cx="30358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Records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4782312" y="3803904"/>
            <a:ext cx="30358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found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8083296" y="3474720"/>
            <a:ext cx="3675888" cy="621792"/>
          </a:xfrm>
          <a:prstGeom prst="roundRect">
            <a:avLst>
              <a:gd name="adj" fmla="val 8824"/>
            </a:avLst>
          </a:prstGeom>
          <a:solidFill>
            <a:srgbClr val="F4F6F9"/>
          </a:solidFill>
          <a:ln/>
        </p:spPr>
      </p:sp>
      <p:sp>
        <p:nvSpPr>
          <p:cNvPr id="33" name="Shape 31"/>
          <p:cNvSpPr/>
          <p:nvPr/>
        </p:nvSpPr>
        <p:spPr>
          <a:xfrm>
            <a:off x="8211312" y="3648456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1E7A4C"/>
          </a:solidFill>
          <a:ln/>
        </p:spPr>
      </p:sp>
      <p:sp>
        <p:nvSpPr>
          <p:cNvPr id="34" name="Text 32"/>
          <p:cNvSpPr/>
          <p:nvPr/>
        </p:nvSpPr>
        <p:spPr>
          <a:xfrm>
            <a:off x="8211312" y="364845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✓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8595360" y="3520440"/>
            <a:ext cx="30358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Types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8595360" y="3803904"/>
            <a:ext cx="30358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valid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457200" y="4251960"/>
            <a:ext cx="3675888" cy="621792"/>
          </a:xfrm>
          <a:prstGeom prst="roundRect">
            <a:avLst>
              <a:gd name="adj" fmla="val 8824"/>
            </a:avLst>
          </a:prstGeom>
          <a:solidFill>
            <a:srgbClr val="F4F6F9"/>
          </a:solidFill>
          <a:ln/>
        </p:spPr>
      </p:sp>
      <p:sp>
        <p:nvSpPr>
          <p:cNvPr id="38" name="Shape 36"/>
          <p:cNvSpPr/>
          <p:nvPr/>
        </p:nvSpPr>
        <p:spPr>
          <a:xfrm>
            <a:off x="585216" y="4425696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1E7A4C"/>
          </a:solidFill>
          <a:ln/>
        </p:spPr>
      </p:sp>
      <p:sp>
        <p:nvSpPr>
          <p:cNvPr id="39" name="Text 37"/>
          <p:cNvSpPr/>
          <p:nvPr/>
        </p:nvSpPr>
        <p:spPr>
          <a:xfrm>
            <a:off x="585216" y="442569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✓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969264" y="4297680"/>
            <a:ext cx="30358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Standardization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969264" y="4581144"/>
            <a:ext cx="30358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consistent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4270248" y="4251960"/>
            <a:ext cx="3675888" cy="621792"/>
          </a:xfrm>
          <a:prstGeom prst="roundRect">
            <a:avLst>
              <a:gd name="adj" fmla="val 8824"/>
            </a:avLst>
          </a:prstGeom>
          <a:solidFill>
            <a:srgbClr val="F4F6F9"/>
          </a:solidFill>
          <a:ln/>
        </p:spPr>
      </p:sp>
      <p:sp>
        <p:nvSpPr>
          <p:cNvPr id="43" name="Shape 41"/>
          <p:cNvSpPr/>
          <p:nvPr/>
        </p:nvSpPr>
        <p:spPr>
          <a:xfrm>
            <a:off x="4398264" y="4425696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1E7A4C"/>
          </a:solidFill>
          <a:ln/>
        </p:spPr>
      </p:sp>
      <p:sp>
        <p:nvSpPr>
          <p:cNvPr id="44" name="Text 42"/>
          <p:cNvSpPr/>
          <p:nvPr/>
        </p:nvSpPr>
        <p:spPr>
          <a:xfrm>
            <a:off x="4398264" y="442569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✓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4782312" y="4297680"/>
            <a:ext cx="30358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 Detection (IQR)</a:t>
            </a:r>
            <a:endParaRPr lang="en-US" sz="1150" dirty="0"/>
          </a:p>
        </p:txBody>
      </p:sp>
      <p:sp>
        <p:nvSpPr>
          <p:cNvPr id="46" name="Text 44"/>
          <p:cNvSpPr/>
          <p:nvPr/>
        </p:nvSpPr>
        <p:spPr>
          <a:xfrm>
            <a:off x="4782312" y="4581144"/>
            <a:ext cx="30358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detected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8083296" y="4251960"/>
            <a:ext cx="3675888" cy="621792"/>
          </a:xfrm>
          <a:prstGeom prst="roundRect">
            <a:avLst>
              <a:gd name="adj" fmla="val 8824"/>
            </a:avLst>
          </a:prstGeom>
          <a:solidFill>
            <a:srgbClr val="F4F6F9"/>
          </a:solidFill>
          <a:ln/>
        </p:spPr>
      </p:sp>
      <p:sp>
        <p:nvSpPr>
          <p:cNvPr id="48" name="Shape 46"/>
          <p:cNvSpPr/>
          <p:nvPr/>
        </p:nvSpPr>
        <p:spPr>
          <a:xfrm>
            <a:off x="8211312" y="4425696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1E7A4C"/>
          </a:solidFill>
          <a:ln/>
        </p:spPr>
      </p:sp>
      <p:sp>
        <p:nvSpPr>
          <p:cNvPr id="49" name="Text 47"/>
          <p:cNvSpPr/>
          <p:nvPr/>
        </p:nvSpPr>
        <p:spPr>
          <a:xfrm>
            <a:off x="8211312" y="442569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✓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8595360" y="4297680"/>
            <a:ext cx="30358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Validation</a:t>
            </a:r>
            <a:endParaRPr lang="en-US" sz="1150" dirty="0"/>
          </a:p>
        </p:txBody>
      </p:sp>
      <p:sp>
        <p:nvSpPr>
          <p:cNvPr id="51" name="Text 49"/>
          <p:cNvSpPr/>
          <p:nvPr/>
        </p:nvSpPr>
        <p:spPr>
          <a:xfrm>
            <a:off x="8595360" y="4581144"/>
            <a:ext cx="30358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passed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457200" y="5166360"/>
            <a:ext cx="11274552" cy="1143000"/>
          </a:xfrm>
          <a:prstGeom prst="roundRect">
            <a:avLst>
              <a:gd name="adj" fmla="val 5600"/>
            </a:avLst>
          </a:prstGeom>
          <a:solidFill>
            <a:srgbClr val="F4F6F9"/>
          </a:solidFill>
          <a:ln w="15875">
            <a:solidFill>
              <a:srgbClr val="1E7A4C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58368" y="5294376"/>
            <a:ext cx="108722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E7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658368" y="5568696"/>
            <a:ext cx="1087221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missing values, duplicates, type errors, or outliers were identified — the dataset required no remediation and supports every finding in this presentation with a high degree of confidence.</a:t>
            </a:r>
            <a:endParaRPr lang="en-US" sz="1250" dirty="0"/>
          </a:p>
        </p:txBody>
      </p:sp>
      <p:sp>
        <p:nvSpPr>
          <p:cNvPr id="55" name="Text 53"/>
          <p:cNvSpPr/>
          <p:nvPr/>
        </p:nvSpPr>
        <p:spPr>
          <a:xfrm>
            <a:off x="457200" y="651052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SEGMENTATION &amp; RETAIL GROWTH STRATEGY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8074152" y="65105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Sanchit Sunil Koli   |   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274320"/>
          </a:xfrm>
          <a:prstGeom prst="roundRect">
            <a:avLst>
              <a:gd name="adj" fmla="val 20000"/>
            </a:avLst>
          </a:prstGeom>
          <a:solidFill>
            <a:srgbClr val="E8871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5669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365760"/>
            <a:ext cx="9144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120" kern="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SNAPSHOT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Performance Overview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figures represent the full 3,900-record transaction base and form the baseline for every category, demographic, and segment comparison in this presentation.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194560"/>
            <a:ext cx="2084832" cy="1280160"/>
          </a:xfrm>
          <a:prstGeom prst="roundRect">
            <a:avLst>
              <a:gd name="adj" fmla="val 5714"/>
            </a:avLst>
          </a:prstGeom>
          <a:solidFill>
            <a:srgbClr val="0B2545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399386"/>
            <a:ext cx="20848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4A3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3,900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30352" y="2988259"/>
            <a:ext cx="1938528" cy="43525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CUSTOMER RECORDS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670048" y="2194560"/>
            <a:ext cx="2084832" cy="1280160"/>
          </a:xfrm>
          <a:prstGeom prst="roundRect">
            <a:avLst>
              <a:gd name="adj" fmla="val 5714"/>
            </a:avLst>
          </a:prstGeom>
          <a:solidFill>
            <a:srgbClr val="0B2545"/>
          </a:solidFill>
          <a:ln/>
        </p:spPr>
      </p:sp>
      <p:sp>
        <p:nvSpPr>
          <p:cNvPr id="11" name="Text 9"/>
          <p:cNvSpPr/>
          <p:nvPr/>
        </p:nvSpPr>
        <p:spPr>
          <a:xfrm>
            <a:off x="2670048" y="2399386"/>
            <a:ext cx="20848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4A3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$233,081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2743200" y="2988259"/>
            <a:ext cx="1938528" cy="43525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882896" y="2194560"/>
            <a:ext cx="2084832" cy="1280160"/>
          </a:xfrm>
          <a:prstGeom prst="roundRect">
            <a:avLst>
              <a:gd name="adj" fmla="val 5714"/>
            </a:avLst>
          </a:prstGeom>
          <a:solidFill>
            <a:srgbClr val="0B2545"/>
          </a:solidFill>
          <a:ln/>
        </p:spPr>
      </p:sp>
      <p:sp>
        <p:nvSpPr>
          <p:cNvPr id="14" name="Text 12"/>
          <p:cNvSpPr/>
          <p:nvPr/>
        </p:nvSpPr>
        <p:spPr>
          <a:xfrm>
            <a:off x="4882896" y="2399386"/>
            <a:ext cx="20848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4A3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$59.76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4956048" y="2988259"/>
            <a:ext cx="1938528" cy="43525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PURCHASE AMOUNT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7095744" y="2194560"/>
            <a:ext cx="2084832" cy="1280160"/>
          </a:xfrm>
          <a:prstGeom prst="roundRect">
            <a:avLst>
              <a:gd name="adj" fmla="val 5714"/>
            </a:avLst>
          </a:prstGeom>
          <a:solidFill>
            <a:srgbClr val="0B2545"/>
          </a:solidFill>
          <a:ln/>
        </p:spPr>
      </p:sp>
      <p:sp>
        <p:nvSpPr>
          <p:cNvPr id="17" name="Text 15"/>
          <p:cNvSpPr/>
          <p:nvPr/>
        </p:nvSpPr>
        <p:spPr>
          <a:xfrm>
            <a:off x="7095744" y="2399386"/>
            <a:ext cx="20848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4A3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44.07 yrs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7168896" y="2988259"/>
            <a:ext cx="1938528" cy="43525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CUSTOMER AGE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9308592" y="2194560"/>
            <a:ext cx="2084832" cy="1280160"/>
          </a:xfrm>
          <a:prstGeom prst="roundRect">
            <a:avLst>
              <a:gd name="adj" fmla="val 5714"/>
            </a:avLst>
          </a:prstGeom>
          <a:solidFill>
            <a:srgbClr val="0B2545"/>
          </a:solidFill>
          <a:ln/>
        </p:spPr>
      </p:sp>
      <p:sp>
        <p:nvSpPr>
          <p:cNvPr id="20" name="Text 18"/>
          <p:cNvSpPr/>
          <p:nvPr/>
        </p:nvSpPr>
        <p:spPr>
          <a:xfrm>
            <a:off x="9308592" y="2399386"/>
            <a:ext cx="20848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4A3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3.75 / 5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9381744" y="2988259"/>
            <a:ext cx="1938528" cy="43525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REVIEW RATING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57200" y="3794760"/>
            <a:ext cx="1124712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8000"/>
              </a:lnSpc>
              <a:spcAft>
                <a:spcPts val="1400"/>
              </a:spcAft>
              <a:buSzPct val="100000"/>
              <a:buChar char="●"/>
            </a:pPr>
            <a:r>
              <a:rPr lang="en-US" sz="140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sample of 3,900 transactions provides a statistically reliable base for segment- and category-level decision-making.</a:t>
            </a:r>
            <a:endParaRPr lang="en-US" sz="1400" dirty="0"/>
          </a:p>
          <a:p>
            <a:pPr marL="177800" indent="-177800">
              <a:lnSpc>
                <a:spcPct val="108000"/>
              </a:lnSpc>
              <a:spcAft>
                <a:spcPts val="1400"/>
              </a:spcAft>
              <a:buSzPct val="100000"/>
              <a:buChar char="●"/>
            </a:pPr>
            <a:r>
              <a:rPr lang="en-US" sz="140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average review rating of 3.75/5 indicates a generally satisfied customer base — with clear room to improve within specific segments identified later in this deck.</a:t>
            </a:r>
            <a:endParaRPr lang="en-US" sz="1400" dirty="0"/>
          </a:p>
          <a:p>
            <a:pPr marL="177800" indent="-177800">
              <a:lnSpc>
                <a:spcPct val="108000"/>
              </a:lnSpc>
              <a:spcAft>
                <a:spcPts val="1400"/>
              </a:spcAft>
              <a:buSzPct val="100000"/>
              <a:buChar char="●"/>
            </a:pPr>
            <a:r>
              <a:rPr lang="en-US" sz="140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balanced average customer age of 44.07 years signals a mature, adult-dominated customer base rather than a youth-skewed one, with direct implications for channel and messaging strategy.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57200" y="651052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SEGMENTATION &amp; RETAIL GROWTH STRATEGY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8074152" y="65105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Sanchit Sunil Koli   |   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274320"/>
          </a:xfrm>
          <a:prstGeom prst="roundRect">
            <a:avLst>
              <a:gd name="adj" fmla="val 20000"/>
            </a:avLst>
          </a:prstGeom>
          <a:solidFill>
            <a:srgbClr val="E8871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5669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365760"/>
            <a:ext cx="9144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120" kern="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STRATEGY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Discount Broadly? The Data Says No.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1508760"/>
            <a:ext cx="5577840" cy="420624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9525">
            <a:solidFill>
              <a:srgbClr val="D9DEE4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1">
                <a:alpha val="28000"/>
              </a:srgbClr>
            </a:outerShdw>
          </a:effectLst>
        </p:spPr>
      </p:sp>
      <p:pic>
        <p:nvPicPr>
          <p:cNvPr id="7" name="Image 0" descr="/home/claude/work/images/image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5216" y="1636776"/>
            <a:ext cx="5321808" cy="332998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85216" y="5367528"/>
            <a:ext cx="53218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Contribution, Order Volume &amp; Discount Impact by Category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6263640" y="1508760"/>
            <a:ext cx="5468112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8000"/>
              </a:lnSpc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Clothing generates $104,264 (44.73%) of revenue — the strongest category by far.</a:t>
            </a:r>
            <a:endParaRPr lang="en-US" sz="1300" dirty="0"/>
          </a:p>
          <a:p>
            <a:pPr marL="177800" indent="-177800">
              <a:lnSpc>
                <a:spcPct val="108000"/>
              </a:lnSpc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Clothing + Accessories together account for over 76% of total revenue.</a:t>
            </a:r>
            <a:endParaRPr lang="en-US" sz="1300" dirty="0"/>
          </a:p>
          <a:p>
            <a:pPr marL="177800" indent="-177800">
              <a:lnSpc>
                <a:spcPct val="108000"/>
              </a:lnSpc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Outerwear contributes just 7.95% of revenue with the fewest orders.</a:t>
            </a:r>
            <a:endParaRPr lang="en-US" sz="1300" dirty="0"/>
          </a:p>
          <a:p>
            <a:pPr marL="177800" indent="-177800">
              <a:lnSpc>
                <a:spcPct val="108000"/>
              </a:lnSpc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Discounted ($59.28) vs. non-discounted ($60.13) transactions differ by under $1 — discounting isn't moving spend.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263640" y="4343400"/>
            <a:ext cx="5468112" cy="1417320"/>
          </a:xfrm>
          <a:prstGeom prst="roundRect">
            <a:avLst>
              <a:gd name="adj" fmla="val 4516"/>
            </a:avLst>
          </a:prstGeom>
          <a:solidFill>
            <a:srgbClr val="F4F6F9"/>
          </a:solidFill>
          <a:ln w="15875">
            <a:solidFill>
              <a:srgbClr val="E8871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64808" y="4471416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6464808" y="4745736"/>
            <a:ext cx="5065776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extend discounts to already-strong categories. Launch time-bound, seasonally-timed Outerwear campaigns paired with merchandising visibility — the constraint is demand awareness, not price.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57200" y="651052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SEGMENTATION &amp; RETAIL GROWTH STRATEGY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8074152" y="65105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Sanchit Sunil Koli   |   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274320"/>
          </a:xfrm>
          <a:prstGeom prst="roundRect">
            <a:avLst>
              <a:gd name="adj" fmla="val 20000"/>
            </a:avLst>
          </a:prstGeom>
          <a:solidFill>
            <a:srgbClr val="E8871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5669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365760"/>
            <a:ext cx="9144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120" kern="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BEHAVIOR DRIVERS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Volume Drives Revenue — Not Individual Spend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1508760"/>
            <a:ext cx="5532120" cy="25146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9525">
            <a:solidFill>
              <a:srgbClr val="D9DEE4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1">
                <a:alpha val="28000"/>
              </a:srgbClr>
            </a:outerShdw>
          </a:effectLst>
        </p:spPr>
      </p:sp>
      <p:pic>
        <p:nvPicPr>
          <p:cNvPr id="7" name="Image 0" descr="/home/claude/work/images/image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40329" y="1636776"/>
            <a:ext cx="2965861" cy="19659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85216" y="3675888"/>
            <a:ext cx="527608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Revenue, Customers &amp; Avg. Purchase by Age Group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6199632" y="1508760"/>
            <a:ext cx="5532120" cy="25146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9525">
            <a:solidFill>
              <a:srgbClr val="D9DEE4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1">
                <a:alpha val="28000"/>
              </a:srgbClr>
            </a:outerShdw>
          </a:effectLst>
        </p:spPr>
      </p:sp>
      <p:pic>
        <p:nvPicPr>
          <p:cNvPr id="10" name="Image 1" descr="/home/claude/work/images/image4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99043" y="1636776"/>
            <a:ext cx="2533297" cy="19659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327648" y="3675888"/>
            <a:ext cx="527608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&amp; Customer Volume by Season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457200" y="4160520"/>
            <a:ext cx="553212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56+ customers generate the highest revenue ($65K) from the largest base (1,105 customers).</a:t>
            </a:r>
            <a:endParaRPr lang="en-US" sz="1250" dirty="0"/>
          </a:p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18–25 generates the least ($35K, 571 customers) — an engagement gap, not a spending gap.</a:t>
            </a:r>
            <a:endParaRPr lang="en-US" sz="1250" dirty="0"/>
          </a:p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purchase stays flat ($59–$61) across all age groups.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6199632" y="4160520"/>
            <a:ext cx="553212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is stable across seasons ($56K–$60K) — no meaningful seasonality.</a:t>
            </a:r>
            <a:endParaRPr lang="en-US" sz="1250" dirty="0"/>
          </a:p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Clothing leads and Outerwear trails in every season alike.</a:t>
            </a:r>
            <a:endParaRPr lang="en-US" sz="1250" dirty="0"/>
          </a:p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seasonal discount campaigns are not supported by the data.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457200" y="651052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SEGMENTATION &amp; RETAIL GROWTH STRATEGY</a:t>
            </a:r>
            <a:endParaRPr lang="en-US" sz="800" dirty="0"/>
          </a:p>
        </p:txBody>
      </p:sp>
      <p:sp>
        <p:nvSpPr>
          <p:cNvPr id="15" name="Text 11"/>
          <p:cNvSpPr/>
          <p:nvPr/>
        </p:nvSpPr>
        <p:spPr>
          <a:xfrm>
            <a:off x="8074152" y="65105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Sanchit Sunil Koli   |   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274320"/>
          </a:xfrm>
          <a:prstGeom prst="roundRect">
            <a:avLst>
              <a:gd name="adj" fmla="val 20000"/>
            </a:avLst>
          </a:prstGeom>
          <a:solidFill>
            <a:srgbClr val="E8871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5669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365760"/>
            <a:ext cx="9144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120" kern="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BEHAVIOR DRIVERS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Volume Markets vs. Value Markets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1508760"/>
            <a:ext cx="649224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9525">
            <a:solidFill>
              <a:srgbClr val="D9DEE4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1">
                <a:alpha val="28000"/>
              </a:srgbClr>
            </a:outerShdw>
          </a:effectLst>
        </p:spPr>
      </p:sp>
      <p:pic>
        <p:nvPicPr>
          <p:cNvPr id="7" name="Image 0" descr="/home/claude/work/images/image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5216" y="1636776"/>
            <a:ext cx="6236208" cy="392404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85216" y="5641848"/>
            <a:ext cx="62362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Revenue, Customer Count &amp; Avg. Purchase by Location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7223760" y="1508760"/>
            <a:ext cx="4507992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8000"/>
              </a:lnSpc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Montana: highest revenue ($5.8K) and highest customer count (96) — a volume-driven market.</a:t>
            </a:r>
            <a:endParaRPr lang="en-US" sz="1250" dirty="0"/>
          </a:p>
          <a:p>
            <a:pPr marL="177800" indent="-177800">
              <a:lnSpc>
                <a:spcPct val="108000"/>
              </a:lnSpc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Alaska: highest average purchase ($68) despite smaller volume — a value-driven market.</a:t>
            </a:r>
            <a:endParaRPr lang="en-US" sz="1250" dirty="0"/>
          </a:p>
          <a:p>
            <a:pPr marL="177800" indent="-177800">
              <a:lnSpc>
                <a:spcPct val="108000"/>
              </a:lnSpc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revenue doesn't always mean high per-customer spend; strategy must fit the market type.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7223760" y="4160520"/>
            <a:ext cx="4507992" cy="1783080"/>
          </a:xfrm>
          <a:prstGeom prst="roundRect">
            <a:avLst>
              <a:gd name="adj" fmla="val 3590"/>
            </a:avLst>
          </a:prstGeom>
          <a:solidFill>
            <a:srgbClr val="F4F6F9"/>
          </a:solidFill>
          <a:ln w="15875">
            <a:solidFill>
              <a:srgbClr val="E8871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424928" y="4288536"/>
            <a:ext cx="41056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7424928" y="4562856"/>
            <a:ext cx="4105656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a two-track regional strategy: acquisition investment in high-volume markets like Montana, and premium/personalized offers in high-value markets like Alaska.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57200" y="651052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SEGMENTATION &amp; RETAIL GROWTH STRATEGY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8074152" y="65105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Sanchit Sunil Koli   |   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274320"/>
          </a:xfrm>
          <a:prstGeom prst="roundRect">
            <a:avLst>
              <a:gd name="adj" fmla="val 20000"/>
            </a:avLst>
          </a:prstGeom>
          <a:solidFill>
            <a:srgbClr val="E8871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5669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365760"/>
            <a:ext cx="9144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120" kern="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SEGMENTATION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K-Means Clustering: Five Optimal Segments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56692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Age, Purchase Amount, Review Rating, and Previous Purchases were standardized and clustered using K-Means. The Elbow Method identifies K = 5 as the statistically optimal number of segments.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63640" y="1417320"/>
            <a:ext cx="5468112" cy="35661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9525">
            <a:solidFill>
              <a:srgbClr val="D9DEE4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1">
                <a:alpha val="28000"/>
              </a:srgbClr>
            </a:outerShdw>
          </a:effectLst>
        </p:spPr>
      </p:sp>
      <p:pic>
        <p:nvPicPr>
          <p:cNvPr id="8" name="Image 0" descr="/home/claude/work/images/image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53315" y="1545336"/>
            <a:ext cx="4688762" cy="30175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391656" y="4636008"/>
            <a:ext cx="5212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Elbow Method for Optimal Number of Clusters (K = 5)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457200" y="2606040"/>
            <a:ext cx="566928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8000"/>
              </a:lnSpc>
              <a:spcAft>
                <a:spcPts val="1200"/>
              </a:spcAft>
              <a:buSzPct val="100000"/>
              <a:buChar char="●"/>
            </a:pPr>
            <a:r>
              <a:rPr lang="en-US" sz="130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 features were standardized (StandardScaler) so no single variable dominated the distance calculation.</a:t>
            </a:r>
            <a:endParaRPr lang="en-US" sz="1300" dirty="0"/>
          </a:p>
          <a:p>
            <a:pPr marL="177800" indent="-177800">
              <a:lnSpc>
                <a:spcPct val="108000"/>
              </a:lnSpc>
              <a:spcAft>
                <a:spcPts val="1200"/>
              </a:spcAft>
              <a:buSzPct val="100000"/>
              <a:buChar char="●"/>
            </a:pPr>
            <a:r>
              <a:rPr lang="en-US" sz="130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WCSS curve bends clearly at K = 5 — additional clusters yield only marginal improvement.</a:t>
            </a:r>
            <a:endParaRPr lang="en-US" sz="1300" dirty="0"/>
          </a:p>
          <a:p>
            <a:pPr marL="177800" indent="-177800">
              <a:lnSpc>
                <a:spcPct val="108000"/>
              </a:lnSpc>
              <a:spcAft>
                <a:spcPts val="1200"/>
              </a:spcAft>
              <a:buSzPct val="100000"/>
              <a:buChar char="●"/>
            </a:pPr>
            <a:r>
              <a:rPr lang="en-US" sz="130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Elbow Method suggested K = 5 as the optimal number of clusters for this dataset.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457200" y="651052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SEGMENTATION &amp; RETAIL GROWTH STRATEGY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8074152" y="65105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Sanchit Sunil Koli   |   10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274320"/>
          </a:xfrm>
          <a:prstGeom prst="roundRect">
            <a:avLst>
              <a:gd name="adj" fmla="val 20000"/>
            </a:avLst>
          </a:prstGeom>
          <a:solidFill>
            <a:srgbClr val="E8871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5669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365760"/>
            <a:ext cx="9144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120" kern="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SEGMENTATION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Segment Distribution, Value &amp; Satisfaction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1508760"/>
            <a:ext cx="5532120" cy="2423160"/>
          </a:xfrm>
          <a:prstGeom prst="roundRect">
            <a:avLst>
              <a:gd name="adj" fmla="val 3019"/>
            </a:avLst>
          </a:prstGeom>
          <a:solidFill>
            <a:srgbClr val="FFFFFF"/>
          </a:solidFill>
          <a:ln w="9525">
            <a:solidFill>
              <a:srgbClr val="D9DEE4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1">
                <a:alpha val="28000"/>
              </a:srgbClr>
            </a:outerShdw>
          </a:effectLst>
        </p:spPr>
      </p:sp>
      <p:pic>
        <p:nvPicPr>
          <p:cNvPr id="7" name="Image 0" descr="/home/claude/work/images/image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0547" y="1636776"/>
            <a:ext cx="2805426" cy="18745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85216" y="3584448"/>
            <a:ext cx="527608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Distribution by Cluster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6190488" y="1508760"/>
            <a:ext cx="5532120" cy="2423160"/>
          </a:xfrm>
          <a:prstGeom prst="roundRect">
            <a:avLst>
              <a:gd name="adj" fmla="val 3019"/>
            </a:avLst>
          </a:prstGeom>
          <a:solidFill>
            <a:srgbClr val="FFFFFF"/>
          </a:solidFill>
          <a:ln w="9525">
            <a:solidFill>
              <a:srgbClr val="D9DEE4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1">
                <a:alpha val="28000"/>
              </a:srgbClr>
            </a:outerShdw>
          </a:effectLst>
        </p:spPr>
      </p:sp>
      <p:pic>
        <p:nvPicPr>
          <p:cNvPr id="10" name="Image 1" descr="/home/claude/work/images/image8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77003" y="1636776"/>
            <a:ext cx="2759089" cy="18745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318504" y="3584448"/>
            <a:ext cx="527608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Purchase Amount by Cluster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457200" y="4133088"/>
            <a:ext cx="5532120" cy="2423160"/>
          </a:xfrm>
          <a:prstGeom prst="roundRect">
            <a:avLst>
              <a:gd name="adj" fmla="val 3019"/>
            </a:avLst>
          </a:prstGeom>
          <a:solidFill>
            <a:srgbClr val="FFFFFF"/>
          </a:solidFill>
          <a:ln w="9525">
            <a:solidFill>
              <a:srgbClr val="D9DEE4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1">
                <a:alpha val="28000"/>
              </a:srgbClr>
            </a:outerShdw>
          </a:effectLst>
        </p:spPr>
      </p:sp>
      <p:pic>
        <p:nvPicPr>
          <p:cNvPr id="13" name="Image 2" descr="/home/claude/work/images/image9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3983" y="4261104"/>
            <a:ext cx="2698554" cy="187452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85216" y="6208776"/>
            <a:ext cx="527608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Review Rating by Cluster</a:t>
            </a:r>
            <a:endParaRPr lang="en-US" sz="1000" dirty="0"/>
          </a:p>
        </p:txBody>
      </p:sp>
      <p:sp>
        <p:nvSpPr>
          <p:cNvPr id="15" name="Shape 10"/>
          <p:cNvSpPr/>
          <p:nvPr/>
        </p:nvSpPr>
        <p:spPr>
          <a:xfrm>
            <a:off x="6190488" y="4133088"/>
            <a:ext cx="5532120" cy="2423160"/>
          </a:xfrm>
          <a:prstGeom prst="roundRect">
            <a:avLst>
              <a:gd name="adj" fmla="val 3019"/>
            </a:avLst>
          </a:prstGeom>
          <a:solidFill>
            <a:srgbClr val="FFFFFF"/>
          </a:solidFill>
          <a:ln w="9525">
            <a:solidFill>
              <a:srgbClr val="D9DEE4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1">
                <a:alpha val="28000"/>
              </a:srgbClr>
            </a:outerShdw>
          </a:effectLst>
        </p:spPr>
      </p:sp>
      <p:pic>
        <p:nvPicPr>
          <p:cNvPr id="16" name="Image 3" descr="/home/claude/work/images/image10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61001" y="4261104"/>
            <a:ext cx="2791093" cy="187452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318504" y="6208776"/>
            <a:ext cx="527608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Age by Cluster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457200" y="651052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SEGMENTATION &amp; RETAIL GROWTH STRATEGY</a:t>
            </a:r>
            <a:endParaRPr lang="en-US" sz="800" dirty="0"/>
          </a:p>
        </p:txBody>
      </p:sp>
      <p:sp>
        <p:nvSpPr>
          <p:cNvPr id="19" name="Text 13"/>
          <p:cNvSpPr/>
          <p:nvPr/>
        </p:nvSpPr>
        <p:spPr>
          <a:xfrm>
            <a:off x="8074152" y="65105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Sanchit Sunil Koli   |   11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274320"/>
          </a:xfrm>
          <a:prstGeom prst="roundRect">
            <a:avLst>
              <a:gd name="adj" fmla="val 20000"/>
            </a:avLst>
          </a:prstGeom>
          <a:solidFill>
            <a:srgbClr val="E8871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5669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365760"/>
            <a:ext cx="9144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120" kern="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SEGMENTATION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Segment Profiles: I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3575304" cy="777240"/>
          </a:xfrm>
          <a:prstGeom prst="roundRect">
            <a:avLst>
              <a:gd name="adj" fmla="val 9412"/>
            </a:avLst>
          </a:prstGeom>
          <a:solidFill>
            <a:srgbClr val="0B2545"/>
          </a:solidFill>
          <a:ln/>
        </p:spPr>
      </p:sp>
      <p:sp>
        <p:nvSpPr>
          <p:cNvPr id="7" name="Text 5"/>
          <p:cNvSpPr/>
          <p:nvPr/>
        </p:nvSpPr>
        <p:spPr>
          <a:xfrm>
            <a:off x="603504" y="1627632"/>
            <a:ext cx="3282696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0 — High-Value Loyal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03504" y="1993392"/>
            <a:ext cx="3282696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spend, highest satisfaction, largest group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2423160"/>
            <a:ext cx="3575304" cy="3840480"/>
          </a:xfrm>
          <a:prstGeom prst="roundRect">
            <a:avLst>
              <a:gd name="adj" fmla="val 2046"/>
            </a:avLst>
          </a:prstGeom>
          <a:solidFill>
            <a:srgbClr val="FFFFFF"/>
          </a:solidFill>
          <a:ln w="9525">
            <a:solidFill>
              <a:srgbClr val="D9DEE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03504" y="2542032"/>
            <a:ext cx="328269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03504" y="2779776"/>
            <a:ext cx="3282696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cluster by customer count, with high average purchase amount and the highest review rating of any segment.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03504" y="4023360"/>
            <a:ext cx="328269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03504" y="4261104"/>
            <a:ext cx="3282696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 via VIP membership tiers, exclusive rewards, personalized recommendations, and early access to launches.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03504" y="5696712"/>
            <a:ext cx="3282696" cy="411480"/>
          </a:xfrm>
          <a:prstGeom prst="roundRect">
            <a:avLst>
              <a:gd name="adj" fmla="val 13333"/>
            </a:avLst>
          </a:prstGeom>
          <a:solidFill>
            <a:srgbClr val="F4F6F9"/>
          </a:solidFill>
          <a:ln/>
        </p:spPr>
      </p:sp>
      <p:sp>
        <p:nvSpPr>
          <p:cNvPr id="15" name="Text 13"/>
          <p:cNvSpPr/>
          <p:nvPr/>
        </p:nvSpPr>
        <p:spPr>
          <a:xfrm>
            <a:off x="713232" y="5715000"/>
            <a:ext cx="3063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Priority: </a:t>
            </a:r>
            <a:pPr indent="0" marL="0">
              <a:buNone/>
            </a:pPr>
            <a:r>
              <a:rPr lang="en-US" sz="95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306824" y="1554480"/>
            <a:ext cx="3575304" cy="777240"/>
          </a:xfrm>
          <a:prstGeom prst="roundRect">
            <a:avLst>
              <a:gd name="adj" fmla="val 9412"/>
            </a:avLst>
          </a:prstGeom>
          <a:solidFill>
            <a:srgbClr val="0B2545"/>
          </a:solidFill>
          <a:ln/>
        </p:spPr>
      </p:sp>
      <p:sp>
        <p:nvSpPr>
          <p:cNvPr id="17" name="Text 15"/>
          <p:cNvSpPr/>
          <p:nvPr/>
        </p:nvSpPr>
        <p:spPr>
          <a:xfrm>
            <a:off x="4453128" y="1627632"/>
            <a:ext cx="3282696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1 — Value-Conscious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4453128" y="1993392"/>
            <a:ext cx="3282696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Price-sensitive, lower average spend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306824" y="2423160"/>
            <a:ext cx="3575304" cy="3840480"/>
          </a:xfrm>
          <a:prstGeom prst="roundRect">
            <a:avLst>
              <a:gd name="adj" fmla="val 2046"/>
            </a:avLst>
          </a:prstGeom>
          <a:solidFill>
            <a:srgbClr val="FFFFFF"/>
          </a:solidFill>
          <a:ln w="9525">
            <a:solidFill>
              <a:srgbClr val="D9DEE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453128" y="2542032"/>
            <a:ext cx="328269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453128" y="2779776"/>
            <a:ext cx="3282696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average purchase amount among all segments, indicating heightened price sensitivity.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453128" y="4023360"/>
            <a:ext cx="328269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453128" y="4261104"/>
            <a:ext cx="3282696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 with cashback offers, seasonal discounts, and bundle deals to grow basket size.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453128" y="5696712"/>
            <a:ext cx="3282696" cy="411480"/>
          </a:xfrm>
          <a:prstGeom prst="roundRect">
            <a:avLst>
              <a:gd name="adj" fmla="val 13333"/>
            </a:avLst>
          </a:prstGeom>
          <a:solidFill>
            <a:srgbClr val="F4F6F9"/>
          </a:solidFill>
          <a:ln/>
        </p:spPr>
      </p:sp>
      <p:sp>
        <p:nvSpPr>
          <p:cNvPr id="25" name="Text 23"/>
          <p:cNvSpPr/>
          <p:nvPr/>
        </p:nvSpPr>
        <p:spPr>
          <a:xfrm>
            <a:off x="4562856" y="5715000"/>
            <a:ext cx="3063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Priority: </a:t>
            </a:r>
            <a:pPr indent="0" marL="0">
              <a:buNone/>
            </a:pPr>
            <a:r>
              <a:rPr lang="en-US" sz="95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8156448" y="1554480"/>
            <a:ext cx="3575304" cy="777240"/>
          </a:xfrm>
          <a:prstGeom prst="roundRect">
            <a:avLst>
              <a:gd name="adj" fmla="val 9412"/>
            </a:avLst>
          </a:prstGeom>
          <a:solidFill>
            <a:srgbClr val="0B2545"/>
          </a:solidFill>
          <a:ln/>
        </p:spPr>
      </p:sp>
      <p:sp>
        <p:nvSpPr>
          <p:cNvPr id="27" name="Text 25"/>
          <p:cNvSpPr/>
          <p:nvPr/>
        </p:nvSpPr>
        <p:spPr>
          <a:xfrm>
            <a:off x="8302752" y="1627632"/>
            <a:ext cx="3282696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2 — Young High-Spenders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8302752" y="1993392"/>
            <a:ext cx="3282696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spend, youngest segment, lower satisfaction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8156448" y="2423160"/>
            <a:ext cx="3575304" cy="3840480"/>
          </a:xfrm>
          <a:prstGeom prst="roundRect">
            <a:avLst>
              <a:gd name="adj" fmla="val 2046"/>
            </a:avLst>
          </a:prstGeom>
          <a:solidFill>
            <a:srgbClr val="FFFFFF"/>
          </a:solidFill>
          <a:ln w="9525">
            <a:solidFill>
              <a:srgbClr val="D9DEE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302752" y="2542032"/>
            <a:ext cx="328269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8302752" y="2779776"/>
            <a:ext cx="3282696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Youngest segment with the highest average purchase amount, but satisfaction trails Cluster 0.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8302752" y="4023360"/>
            <a:ext cx="328269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8302752" y="4261104"/>
            <a:ext cx="3282696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 faster service, personalization, and loyalty benefits to close the satisfaction gap.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8302752" y="5696712"/>
            <a:ext cx="3282696" cy="411480"/>
          </a:xfrm>
          <a:prstGeom prst="roundRect">
            <a:avLst>
              <a:gd name="adj" fmla="val 13333"/>
            </a:avLst>
          </a:prstGeom>
          <a:solidFill>
            <a:srgbClr val="F4F6F9"/>
          </a:solidFill>
          <a:ln/>
        </p:spPr>
      </p:sp>
      <p:sp>
        <p:nvSpPr>
          <p:cNvPr id="35" name="Text 33"/>
          <p:cNvSpPr/>
          <p:nvPr/>
        </p:nvSpPr>
        <p:spPr>
          <a:xfrm>
            <a:off x="8412480" y="5715000"/>
            <a:ext cx="3063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Priority: </a:t>
            </a:r>
            <a:pPr indent="0" marL="0">
              <a:buNone/>
            </a:pPr>
            <a:r>
              <a:rPr lang="en-US" sz="95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457200" y="651052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SEGMENTATION &amp; RETAIL GROWTH STRATEGY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8074152" y="65105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Sanchit Sunil Koli   |   12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274320"/>
          </a:xfrm>
          <a:prstGeom prst="roundRect">
            <a:avLst>
              <a:gd name="adj" fmla="val 20000"/>
            </a:avLst>
          </a:prstGeom>
          <a:solidFill>
            <a:srgbClr val="E8871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5669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365760"/>
            <a:ext cx="9144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120" kern="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SEGMENTATION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Segment Profiles: II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5500116" cy="777240"/>
          </a:xfrm>
          <a:prstGeom prst="roundRect">
            <a:avLst>
              <a:gd name="adj" fmla="val 9412"/>
            </a:avLst>
          </a:prstGeom>
          <a:solidFill>
            <a:srgbClr val="0B2545"/>
          </a:solidFill>
          <a:ln/>
        </p:spPr>
      </p:sp>
      <p:sp>
        <p:nvSpPr>
          <p:cNvPr id="7" name="Text 5"/>
          <p:cNvSpPr/>
          <p:nvPr/>
        </p:nvSpPr>
        <p:spPr>
          <a:xfrm>
            <a:off x="603504" y="1627632"/>
            <a:ext cx="5207508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3 — Frequent Budget Shoppers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03504" y="1993392"/>
            <a:ext cx="5207508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repeat frequency, lowest satisfaction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2423160"/>
            <a:ext cx="5500116" cy="3840480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 w="9525">
            <a:solidFill>
              <a:srgbClr val="D9DEE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03504" y="2542032"/>
            <a:ext cx="520750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03504" y="2779776"/>
            <a:ext cx="5207508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Strongest repeat-purchase behavior of any segment, but the lowest review rating and low spend per transaction.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03504" y="4023360"/>
            <a:ext cx="520750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03504" y="4261104"/>
            <a:ext cx="5207508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cross-selling, upselling, and reward-based loyalty programs; address the service-quality gap.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03504" y="5696712"/>
            <a:ext cx="5207508" cy="411480"/>
          </a:xfrm>
          <a:prstGeom prst="roundRect">
            <a:avLst>
              <a:gd name="adj" fmla="val 13333"/>
            </a:avLst>
          </a:prstGeom>
          <a:solidFill>
            <a:srgbClr val="F4F6F9"/>
          </a:solidFill>
          <a:ln/>
        </p:spPr>
      </p:sp>
      <p:sp>
        <p:nvSpPr>
          <p:cNvPr id="15" name="Text 13"/>
          <p:cNvSpPr/>
          <p:nvPr/>
        </p:nvSpPr>
        <p:spPr>
          <a:xfrm>
            <a:off x="713232" y="5715000"/>
            <a:ext cx="49880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Priority: </a:t>
            </a:r>
            <a:pPr indent="0" marL="0">
              <a:buNone/>
            </a:pPr>
            <a:r>
              <a:rPr lang="en-US" sz="95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Medium-High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231636" y="1554480"/>
            <a:ext cx="5500116" cy="777240"/>
          </a:xfrm>
          <a:prstGeom prst="roundRect">
            <a:avLst>
              <a:gd name="adj" fmla="val 9412"/>
            </a:avLst>
          </a:prstGeom>
          <a:solidFill>
            <a:srgbClr val="0B2545"/>
          </a:solidFill>
          <a:ln/>
        </p:spPr>
      </p:sp>
      <p:sp>
        <p:nvSpPr>
          <p:cNvPr id="17" name="Text 15"/>
          <p:cNvSpPr/>
          <p:nvPr/>
        </p:nvSpPr>
        <p:spPr>
          <a:xfrm>
            <a:off x="6377940" y="1627632"/>
            <a:ext cx="5207508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4 — Occasional Senior Customers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6377940" y="1993392"/>
            <a:ext cx="5207508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Older demographic, lower purchase frequency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231636" y="2423160"/>
            <a:ext cx="5500116" cy="3840480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 w="9525">
            <a:solidFill>
              <a:srgbClr val="D9DEE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77940" y="2542032"/>
            <a:ext cx="520750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377940" y="2779776"/>
            <a:ext cx="5207508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Oldest customer segment, purchasing less frequently than other clusters — an engagement challenge.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377940" y="4023360"/>
            <a:ext cx="520750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377940" y="4261104"/>
            <a:ext cx="5207508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Re-engage with personalized communication, seasonal offers, and premium customer support.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377940" y="5696712"/>
            <a:ext cx="5207508" cy="411480"/>
          </a:xfrm>
          <a:prstGeom prst="roundRect">
            <a:avLst>
              <a:gd name="adj" fmla="val 13333"/>
            </a:avLst>
          </a:prstGeom>
          <a:solidFill>
            <a:srgbClr val="F4F6F9"/>
          </a:solidFill>
          <a:ln/>
        </p:spPr>
      </p:sp>
      <p:sp>
        <p:nvSpPr>
          <p:cNvPr id="25" name="Text 23"/>
          <p:cNvSpPr/>
          <p:nvPr/>
        </p:nvSpPr>
        <p:spPr>
          <a:xfrm>
            <a:off x="6487668" y="5715000"/>
            <a:ext cx="49880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Priority: </a:t>
            </a:r>
            <a:pPr indent="0" marL="0">
              <a:buNone/>
            </a:pPr>
            <a:r>
              <a:rPr lang="en-US" sz="95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57200" y="651052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SEGMENTATION &amp; RETAIL GROWTH STRATEGY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074152" y="65105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Sanchit Sunil Koli   |   13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274320"/>
          </a:xfrm>
          <a:prstGeom prst="roundRect">
            <a:avLst>
              <a:gd name="adj" fmla="val 20000"/>
            </a:avLst>
          </a:prstGeom>
          <a:solidFill>
            <a:srgbClr val="E8871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5669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365760"/>
            <a:ext cx="9144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120" kern="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INTELLIGENCE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Analysis to Always-On Decision Support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1508760"/>
            <a:ext cx="553212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9525">
            <a:solidFill>
              <a:srgbClr val="D9DEE4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1">
                <a:alpha val="28000"/>
              </a:srgbClr>
            </a:outerShdw>
          </a:effectLst>
        </p:spPr>
      </p:sp>
      <p:pic>
        <p:nvPicPr>
          <p:cNvPr id="7" name="Image 0" descr="/home/claude/work/images/image1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5216" y="1636776"/>
            <a:ext cx="5276088" cy="312942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85216" y="5641848"/>
            <a:ext cx="527608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1 — Executive Performance Dashboard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6199632" y="1508760"/>
            <a:ext cx="553212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9525">
            <a:solidFill>
              <a:srgbClr val="D9DEE4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1">
                <a:alpha val="28000"/>
              </a:srgbClr>
            </a:outerShdw>
          </a:effectLst>
        </p:spPr>
      </p:sp>
      <p:pic>
        <p:nvPicPr>
          <p:cNvPr id="10" name="Image 1" descr="/home/claude/work/images/image1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7648" y="1636776"/>
            <a:ext cx="5276088" cy="301888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327648" y="5641848"/>
            <a:ext cx="527608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2 — Customer Segmentation Dashboard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457200" y="651052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SEGMENTATION &amp; RETAIL GROWTH STRATEGY</a:t>
            </a:r>
            <a:endParaRPr lang="en-US" sz="800" dirty="0"/>
          </a:p>
        </p:txBody>
      </p:sp>
      <p:sp>
        <p:nvSpPr>
          <p:cNvPr id="13" name="Text 9"/>
          <p:cNvSpPr/>
          <p:nvPr/>
        </p:nvSpPr>
        <p:spPr>
          <a:xfrm>
            <a:off x="8074152" y="65105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Sanchit Sunil Koli   |   14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274320"/>
          </a:xfrm>
          <a:prstGeom prst="roundRect">
            <a:avLst>
              <a:gd name="adj" fmla="val 20000"/>
            </a:avLst>
          </a:prstGeom>
          <a:solidFill>
            <a:srgbClr val="E8871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5669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365760"/>
            <a:ext cx="9144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120" kern="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RECOMMENDATIONS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Seven Priorities, Grounded in the Data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3675888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D9DEE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" y="1691640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E8871E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16916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78992" y="1673352"/>
            <a:ext cx="289864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Segment-Led Loyalty Program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94360" y="2176272"/>
            <a:ext cx="3383280" cy="7040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8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 a tiered loyalty program on Cluster 0; extend a lighter version to Clusters 2 &amp; 3.</a:t>
            </a:r>
            <a:endParaRPr lang="en-US" sz="980" dirty="0"/>
          </a:p>
        </p:txBody>
      </p:sp>
      <p:sp>
        <p:nvSpPr>
          <p:cNvPr id="11" name="Shape 9"/>
          <p:cNvSpPr/>
          <p:nvPr/>
        </p:nvSpPr>
        <p:spPr>
          <a:xfrm>
            <a:off x="4270248" y="1554480"/>
            <a:ext cx="3675888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D9DEE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407408" y="1691640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E8871E"/>
          </a:solidFill>
          <a:ln/>
        </p:spPr>
      </p:sp>
      <p:sp>
        <p:nvSpPr>
          <p:cNvPr id="13" name="Text 11"/>
          <p:cNvSpPr/>
          <p:nvPr/>
        </p:nvSpPr>
        <p:spPr>
          <a:xfrm>
            <a:off x="4407408" y="16916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892040" y="1673352"/>
            <a:ext cx="289864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Targeted Outerwear Campaign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407408" y="2176272"/>
            <a:ext cx="3383280" cy="7040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8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Time-bound seasonal awareness and merchandising, not continuous discounting.</a:t>
            </a:r>
            <a:endParaRPr lang="en-US" sz="980" dirty="0"/>
          </a:p>
        </p:txBody>
      </p:sp>
      <p:sp>
        <p:nvSpPr>
          <p:cNvPr id="16" name="Shape 14"/>
          <p:cNvSpPr/>
          <p:nvPr/>
        </p:nvSpPr>
        <p:spPr>
          <a:xfrm>
            <a:off x="8083296" y="1554480"/>
            <a:ext cx="3675888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D9DEE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20456" y="1691640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E8871E"/>
          </a:solidFill>
          <a:ln/>
        </p:spPr>
      </p:sp>
      <p:sp>
        <p:nvSpPr>
          <p:cNvPr id="18" name="Text 16"/>
          <p:cNvSpPr/>
          <p:nvPr/>
        </p:nvSpPr>
        <p:spPr>
          <a:xfrm>
            <a:off x="8220456" y="16916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705088" y="1673352"/>
            <a:ext cx="289864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Youth Acquisition Strategy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8220456" y="2176272"/>
            <a:ext cx="3383280" cy="7040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8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Digital-first channel and messaging strategy for the 18–25 segment.</a:t>
            </a:r>
            <a:endParaRPr lang="en-US" sz="980" dirty="0"/>
          </a:p>
        </p:txBody>
      </p:sp>
      <p:sp>
        <p:nvSpPr>
          <p:cNvPr id="21" name="Shape 19"/>
          <p:cNvSpPr/>
          <p:nvPr/>
        </p:nvSpPr>
        <p:spPr>
          <a:xfrm>
            <a:off x="457200" y="3108960"/>
            <a:ext cx="3675888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D9DEE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94360" y="3246120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E8871E"/>
          </a:solidFill>
          <a:ln/>
        </p:spPr>
      </p:sp>
      <p:sp>
        <p:nvSpPr>
          <p:cNvPr id="23" name="Text 21"/>
          <p:cNvSpPr/>
          <p:nvPr/>
        </p:nvSpPr>
        <p:spPr>
          <a:xfrm>
            <a:off x="594360" y="32461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078992" y="3227832"/>
            <a:ext cx="289864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 Investment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594360" y="3730752"/>
            <a:ext cx="3383280" cy="7040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8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service and personalization for Clusters 2 &amp; 3 to close the satisfaction gap.</a:t>
            </a:r>
            <a:endParaRPr lang="en-US" sz="980" dirty="0"/>
          </a:p>
        </p:txBody>
      </p:sp>
      <p:sp>
        <p:nvSpPr>
          <p:cNvPr id="26" name="Shape 24"/>
          <p:cNvSpPr/>
          <p:nvPr/>
        </p:nvSpPr>
        <p:spPr>
          <a:xfrm>
            <a:off x="4270248" y="3108960"/>
            <a:ext cx="3675888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D9DEE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407408" y="3246120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E8871E"/>
          </a:solidFill>
          <a:ln/>
        </p:spPr>
      </p:sp>
      <p:sp>
        <p:nvSpPr>
          <p:cNvPr id="28" name="Text 26"/>
          <p:cNvSpPr/>
          <p:nvPr/>
        </p:nvSpPr>
        <p:spPr>
          <a:xfrm>
            <a:off x="4407408" y="32461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892040" y="3227832"/>
            <a:ext cx="289864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Value-Segment Activation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4407408" y="3730752"/>
            <a:ext cx="3383280" cy="7040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8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Cashback, bundles, and seasonal offers targeted at Cluster 1.</a:t>
            </a:r>
            <a:endParaRPr lang="en-US" sz="980" dirty="0"/>
          </a:p>
        </p:txBody>
      </p:sp>
      <p:sp>
        <p:nvSpPr>
          <p:cNvPr id="31" name="Shape 29"/>
          <p:cNvSpPr/>
          <p:nvPr/>
        </p:nvSpPr>
        <p:spPr>
          <a:xfrm>
            <a:off x="8083296" y="3108960"/>
            <a:ext cx="3675888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D9DEE4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220456" y="3246120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E8871E"/>
          </a:solidFill>
          <a:ln/>
        </p:spPr>
      </p:sp>
      <p:sp>
        <p:nvSpPr>
          <p:cNvPr id="33" name="Text 31"/>
          <p:cNvSpPr/>
          <p:nvPr/>
        </p:nvSpPr>
        <p:spPr>
          <a:xfrm>
            <a:off x="8220456" y="32461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6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8705088" y="3227832"/>
            <a:ext cx="289864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Two-Track Strategy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8220456" y="3730752"/>
            <a:ext cx="3383280" cy="7040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8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Acquisition focus in volume markets; premium offers in value markets.</a:t>
            </a:r>
            <a:endParaRPr lang="en-US" sz="980" dirty="0"/>
          </a:p>
        </p:txBody>
      </p:sp>
      <p:sp>
        <p:nvSpPr>
          <p:cNvPr id="36" name="Shape 34"/>
          <p:cNvSpPr/>
          <p:nvPr/>
        </p:nvSpPr>
        <p:spPr>
          <a:xfrm>
            <a:off x="457200" y="4663440"/>
            <a:ext cx="3675888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D9DEE4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94360" y="4800600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E8871E"/>
          </a:solidFill>
          <a:ln/>
        </p:spPr>
      </p:sp>
      <p:sp>
        <p:nvSpPr>
          <p:cNvPr id="38" name="Text 36"/>
          <p:cNvSpPr/>
          <p:nvPr/>
        </p:nvSpPr>
        <p:spPr>
          <a:xfrm>
            <a:off x="594360" y="48006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7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1078992" y="4782312"/>
            <a:ext cx="289864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Analytics (Next Phase)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594360" y="5285232"/>
            <a:ext cx="3383280" cy="7040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8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to RFM scoring and CLV modelling for proactive management.</a:t>
            </a:r>
            <a:endParaRPr lang="en-US" sz="980" dirty="0"/>
          </a:p>
        </p:txBody>
      </p:sp>
      <p:sp>
        <p:nvSpPr>
          <p:cNvPr id="41" name="Text 39"/>
          <p:cNvSpPr/>
          <p:nvPr/>
        </p:nvSpPr>
        <p:spPr>
          <a:xfrm>
            <a:off x="457200" y="651052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SEGMENTATION &amp; RETAIL GROWTH STRATEGY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8074152" y="65105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Sanchit Sunil Koli   |   15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274320"/>
          </a:xfrm>
          <a:prstGeom prst="roundRect">
            <a:avLst>
              <a:gd name="adj" fmla="val 20000"/>
            </a:avLst>
          </a:prstGeom>
          <a:solidFill>
            <a:srgbClr val="E8871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5669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365760"/>
            <a:ext cx="9144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120" kern="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IMPACT &amp; ROADMAP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Phased Implementation, Measured Results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2724912" cy="1737360"/>
          </a:xfrm>
          <a:prstGeom prst="roundRect">
            <a:avLst>
              <a:gd name="adj" fmla="val 4211"/>
            </a:avLst>
          </a:prstGeom>
          <a:solidFill>
            <a:srgbClr val="0B2545"/>
          </a:solidFill>
          <a:ln/>
        </p:spPr>
      </p:sp>
      <p:sp>
        <p:nvSpPr>
          <p:cNvPr id="7" name="Text 5"/>
          <p:cNvSpPr/>
          <p:nvPr/>
        </p:nvSpPr>
        <p:spPr>
          <a:xfrm>
            <a:off x="603504" y="1691640"/>
            <a:ext cx="24323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 •  0–30 Days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603504" y="1965960"/>
            <a:ext cx="24323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03504" y="2377440"/>
            <a:ext cx="2432304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DD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Cluster 0 loyalty pilot; deploy both dashboards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319272" y="1554480"/>
            <a:ext cx="2724912" cy="1737360"/>
          </a:xfrm>
          <a:prstGeom prst="roundRect">
            <a:avLst>
              <a:gd name="adj" fmla="val 4211"/>
            </a:avLst>
          </a:prstGeom>
          <a:solidFill>
            <a:srgbClr val="F4F6F9"/>
          </a:solidFill>
          <a:ln/>
        </p:spPr>
      </p:sp>
      <p:sp>
        <p:nvSpPr>
          <p:cNvPr id="11" name="Text 9"/>
          <p:cNvSpPr/>
          <p:nvPr/>
        </p:nvSpPr>
        <p:spPr>
          <a:xfrm>
            <a:off x="3465576" y="1691640"/>
            <a:ext cx="24323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 •  30–90 Days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465576" y="1965960"/>
            <a:ext cx="24323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465576" y="2377440"/>
            <a:ext cx="2432304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Outerwear campaign, youth acquisition pilot, Cluster 1 offers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81344" y="1554480"/>
            <a:ext cx="2724912" cy="1737360"/>
          </a:xfrm>
          <a:prstGeom prst="roundRect">
            <a:avLst>
              <a:gd name="adj" fmla="val 4211"/>
            </a:avLst>
          </a:prstGeom>
          <a:solidFill>
            <a:srgbClr val="F4F6F9"/>
          </a:solidFill>
          <a:ln/>
        </p:spPr>
      </p:sp>
      <p:sp>
        <p:nvSpPr>
          <p:cNvPr id="15" name="Text 13"/>
          <p:cNvSpPr/>
          <p:nvPr/>
        </p:nvSpPr>
        <p:spPr>
          <a:xfrm>
            <a:off x="6327648" y="1691640"/>
            <a:ext cx="24323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 •  90–180 Days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6327648" y="1965960"/>
            <a:ext cx="24323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327648" y="2377440"/>
            <a:ext cx="2432304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 investment for Clusters 2 &amp; 3; regional rollout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9043416" y="1554480"/>
            <a:ext cx="2724912" cy="1737360"/>
          </a:xfrm>
          <a:prstGeom prst="roundRect">
            <a:avLst>
              <a:gd name="adj" fmla="val 4211"/>
            </a:avLst>
          </a:prstGeom>
          <a:solidFill>
            <a:srgbClr val="F4F6F9"/>
          </a:solidFill>
          <a:ln/>
        </p:spPr>
      </p:sp>
      <p:sp>
        <p:nvSpPr>
          <p:cNvPr id="19" name="Text 17"/>
          <p:cNvSpPr/>
          <p:nvPr/>
        </p:nvSpPr>
        <p:spPr>
          <a:xfrm>
            <a:off x="9189720" y="1691640"/>
            <a:ext cx="24323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  •  180+ Days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9189720" y="1965960"/>
            <a:ext cx="24323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9189720" y="2377440"/>
            <a:ext cx="2432304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RFM &amp; CLV models; automate segment refresh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7200" y="35204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Metrics to Track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57200" y="3886200"/>
            <a:ext cx="11247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share and order volume growth in the Outerwear category, quarter-over-quarter.</a:t>
            </a:r>
            <a:endParaRPr lang="en-US" sz="1250" dirty="0"/>
          </a:p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 rate and repeat-purchase frequency within Cluster 0 and Cluster 3.</a:t>
            </a:r>
            <a:endParaRPr lang="en-US" sz="1250" dirty="0"/>
          </a:p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review rating trend within Cluster 2 and Cluster 3 following experience-investment initiatives.</a:t>
            </a:r>
            <a:endParaRPr lang="en-US" sz="1250" dirty="0"/>
          </a:p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count growth within the 18–25 age group and average purchase uplift within Cluster 1.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57200" y="651052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SEGMENTATION &amp; RETAIL GROWTH STRATEGY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8074152" y="65105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Sanchit Sunil Koli   |   16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685800"/>
            <a:ext cx="1828800" cy="365760"/>
          </a:xfrm>
          <a:prstGeom prst="roundRect">
            <a:avLst>
              <a:gd name="adj" fmla="val 15000"/>
            </a:avLst>
          </a:prstGeom>
          <a:solidFill>
            <a:srgbClr val="E8871E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6858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CONCLUSION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1234440"/>
            <a:ext cx="10058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Sharper Targeting Is the Path to Sustainable Growth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22960" y="2423160"/>
            <a:ext cx="694944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8000"/>
              </a:lnSpc>
              <a:spcAft>
                <a:spcPts val="1400"/>
              </a:spcAft>
              <a:buSzPct val="100000"/>
              <a:buChar char="●"/>
            </a:pPr>
            <a:r>
              <a:rPr lang="en-US" sz="135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customer base is composed of five behaviorally distinct segments with materially different value, satisfaction, and growth profiles.</a:t>
            </a:r>
            <a:endParaRPr lang="en-US" sz="1350" dirty="0"/>
          </a:p>
          <a:p>
            <a:pPr marL="177800" indent="-177800">
              <a:lnSpc>
                <a:spcPct val="108000"/>
              </a:lnSpc>
              <a:spcAft>
                <a:spcPts val="1400"/>
              </a:spcAft>
              <a:buSzPct val="100000"/>
              <a:buChar char="●"/>
            </a:pPr>
            <a:r>
              <a:rPr lang="en-US" sz="135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is driven by customer volume, not individual spend — reframing where acquisition and retention investment should go.</a:t>
            </a:r>
            <a:endParaRPr lang="en-US" sz="1350" dirty="0"/>
          </a:p>
          <a:p>
            <a:pPr marL="177800" indent="-177800">
              <a:lnSpc>
                <a:spcPct val="108000"/>
              </a:lnSpc>
              <a:spcAft>
                <a:spcPts val="1400"/>
              </a:spcAft>
              <a:buSzPct val="100000"/>
              <a:buChar char="●"/>
            </a:pPr>
            <a:r>
              <a:rPr lang="en-US" sz="135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Blanket discounting is not supported by the data; targeted, segment- and category-specific offers outperform broad promotions.</a:t>
            </a:r>
            <a:endParaRPr lang="en-US" sz="1350" dirty="0"/>
          </a:p>
          <a:p>
            <a:pPr marL="177800" indent="-177800">
              <a:lnSpc>
                <a:spcPct val="108000"/>
              </a:lnSpc>
              <a:spcAft>
                <a:spcPts val="1400"/>
              </a:spcAft>
              <a:buSzPct val="100000"/>
              <a:buChar char="●"/>
            </a:pPr>
            <a:r>
              <a:rPr lang="en-US" sz="135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Power BI dashboards keep these findings live for ongoing management use beyond this engagement.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8092440" y="2423160"/>
            <a:ext cx="3291840" cy="3108960"/>
          </a:xfrm>
          <a:prstGeom prst="roundRect">
            <a:avLst>
              <a:gd name="adj" fmla="val 2941"/>
            </a:avLst>
          </a:prstGeom>
          <a:solidFill>
            <a:srgbClr val="071A33"/>
          </a:solidFill>
          <a:ln w="15875">
            <a:solidFill>
              <a:srgbClr val="E8871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321040" y="265176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RECOMMENDATION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321040" y="2971800"/>
            <a:ext cx="28346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the phased implementation plan, beginning with the Cluster 0 loyalty pilot and dashboard rollout within 30 days.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22960" y="5943600"/>
            <a:ext cx="4114800" cy="0"/>
          </a:xfrm>
          <a:prstGeom prst="line">
            <a:avLst/>
          </a:prstGeom>
          <a:noFill/>
          <a:ln w="12700">
            <a:solidFill>
              <a:srgbClr val="3A4A5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60350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22960" y="629107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Sanchit Sunil Koli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Data Analytics Internship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Customer Segmentation &amp; Retail Growth Strategy</dc:title>
  <dc:subject>PptxGenJS Presentation</dc:subject>
  <dc:creator>Sanchit Sunil Koli</dc:creator>
  <cp:lastModifiedBy>Sanchit Sunil Koli</cp:lastModifiedBy>
  <cp:revision>1</cp:revision>
  <dcterms:created xsi:type="dcterms:W3CDTF">2026-07-25T07:51:09Z</dcterms:created>
  <dcterms:modified xsi:type="dcterms:W3CDTF">2026-07-25T07:51:09Z</dcterms:modified>
</cp:coreProperties>
</file>